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7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6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drian/Downloads/Datos_Campanas_Marketing_Crudo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drian/Downloads/Datos_Campanas_Marketing_Crudo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adrian/Downloads/Datos_Campanas_Marketing_Crud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[Datos_Campanas_Marketing_Crudos.xlsx]Pivot Table(s) - 1!PivotTable4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# de Impresiones y % de impresiones</a:t>
            </a:r>
            <a:r>
              <a:rPr lang="en-US" baseline="0"/>
              <a:t> totales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8047464940668825E-2"/>
              <c:y val="-7.102803738317757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2944983818770147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1574973031283712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3732470334412042E-2"/>
              <c:y val="-1.86915887850467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4519956850053934E-2"/>
              <c:y val="-1.12149532710280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4519956850053934E-2"/>
              <c:y val="-1.12149532710280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3732470334412042E-2"/>
              <c:y val="-1.86915887850467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1574973031283712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2944983818770147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8047464940668825E-2"/>
              <c:y val="-7.102803738317757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4519956850053934E-2"/>
              <c:y val="-1.12149532710280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3732470334412042E-2"/>
              <c:y val="-1.86915887850467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1574973031283712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2944983818770147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8047464940668825E-2"/>
              <c:y val="-7.102803738317757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4519956850053934E-2"/>
              <c:y val="-1.12149532710280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3732470334412042E-2"/>
              <c:y val="-1.86915887850467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1574973031283712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2944983818770147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8047464940668825E-2"/>
              <c:y val="-7.102803738317757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3.4519956850053934E-2"/>
              <c:y val="-1.12149532710280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3732470334412042E-2"/>
              <c:y val="-1.869158878504672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2.1574973031283712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1.2944983818770147E-2"/>
              <c:y val="-2.24299065420561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layout>
            <c:manualLayout>
              <c:x val="-2.8047464940668825E-2"/>
              <c:y val="-7.102803738317757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Table(s) - 1'!$R$61</c:f>
              <c:strCache>
                <c:ptCount val="1"/>
                <c:pt idx="0">
                  <c:v>Sum of Impresiones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Table(s) - 1'!$Q$62:$Q$67</c:f>
              <c:strCache>
                <c:ptCount val="5"/>
                <c:pt idx="0">
                  <c:v>TikTok Ads</c:v>
                </c:pt>
                <c:pt idx="1">
                  <c:v>SEM</c:v>
                </c:pt>
                <c:pt idx="2">
                  <c:v>Google Display</c:v>
                </c:pt>
                <c:pt idx="3">
                  <c:v>Meta Ads</c:v>
                </c:pt>
                <c:pt idx="4">
                  <c:v>Correo Electrónico</c:v>
                </c:pt>
              </c:strCache>
            </c:strRef>
          </c:cat>
          <c:val>
            <c:numRef>
              <c:f>'Pivot Table(s) - 1'!$R$62:$R$67</c:f>
              <c:numCache>
                <c:formatCode>General</c:formatCode>
                <c:ptCount val="5"/>
                <c:pt idx="0">
                  <c:v>18468072</c:v>
                </c:pt>
                <c:pt idx="1">
                  <c:v>13368710</c:v>
                </c:pt>
                <c:pt idx="2">
                  <c:v>11065902</c:v>
                </c:pt>
                <c:pt idx="3">
                  <c:v>9442793</c:v>
                </c:pt>
                <c:pt idx="4">
                  <c:v>6008597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B5-3D4D-A2F5-5E6CBAEB2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57934032"/>
        <c:axId val="1157935744"/>
      </c:barChart>
      <c:lineChart>
        <c:grouping val="standard"/>
        <c:varyColors val="0"/>
        <c:ser>
          <c:idx val="1"/>
          <c:order val="1"/>
          <c:tx>
            <c:strRef>
              <c:f>'Pivot Table(s) - 1'!$S$61</c:f>
              <c:strCache>
                <c:ptCount val="1"/>
                <c:pt idx="0">
                  <c:v>% of Grand 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2BB5-3D4D-A2F5-5E6CBAEB2BF8}"/>
              </c:ext>
            </c:extLst>
          </c:dPt>
          <c:dPt>
            <c:idx val="1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2BB5-3D4D-A2F5-5E6CBAEB2BF8}"/>
              </c:ext>
            </c:extLst>
          </c:dPt>
          <c:dPt>
            <c:idx val="2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2BB5-3D4D-A2F5-5E6CBAEB2BF8}"/>
              </c:ext>
            </c:extLst>
          </c:dPt>
          <c:dPt>
            <c:idx val="3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2BB5-3D4D-A2F5-5E6CBAEB2BF8}"/>
              </c:ext>
            </c:extLst>
          </c:dPt>
          <c:dPt>
            <c:idx val="4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2BB5-3D4D-A2F5-5E6CBAEB2BF8}"/>
              </c:ext>
            </c:extLst>
          </c:dPt>
          <c:dLbls>
            <c:dLbl>
              <c:idx val="0"/>
              <c:layout>
                <c:manualLayout>
                  <c:x val="3.4519956850053934E-2"/>
                  <c:y val="-1.12149532710280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B5-3D4D-A2F5-5E6CBAEB2BF8}"/>
                </c:ext>
              </c:extLst>
            </c:dLbl>
            <c:dLbl>
              <c:idx val="1"/>
              <c:layout>
                <c:manualLayout>
                  <c:x val="2.3732470334412042E-2"/>
                  <c:y val="-1.86915887850467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BB5-3D4D-A2F5-5E6CBAEB2BF8}"/>
                </c:ext>
              </c:extLst>
            </c:dLbl>
            <c:dLbl>
              <c:idx val="2"/>
              <c:layout>
                <c:manualLayout>
                  <c:x val="2.1574973031283712E-2"/>
                  <c:y val="-2.24299065420561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BB5-3D4D-A2F5-5E6CBAEB2BF8}"/>
                </c:ext>
              </c:extLst>
            </c:dLbl>
            <c:dLbl>
              <c:idx val="3"/>
              <c:layout>
                <c:manualLayout>
                  <c:x val="1.2944983818770147E-2"/>
                  <c:y val="-2.24299065420561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BB5-3D4D-A2F5-5E6CBAEB2BF8}"/>
                </c:ext>
              </c:extLst>
            </c:dLbl>
            <c:dLbl>
              <c:idx val="4"/>
              <c:layout>
                <c:manualLayout>
                  <c:x val="-2.8047464940668825E-2"/>
                  <c:y val="-7.10280373831775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BB5-3D4D-A2F5-5E6CBAEB2B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Table(s) - 1'!$Q$62:$Q$67</c:f>
              <c:strCache>
                <c:ptCount val="5"/>
                <c:pt idx="0">
                  <c:v>TikTok Ads</c:v>
                </c:pt>
                <c:pt idx="1">
                  <c:v>SEM</c:v>
                </c:pt>
                <c:pt idx="2">
                  <c:v>Google Display</c:v>
                </c:pt>
                <c:pt idx="3">
                  <c:v>Meta Ads</c:v>
                </c:pt>
                <c:pt idx="4">
                  <c:v>Correo Electrónico</c:v>
                </c:pt>
              </c:strCache>
            </c:strRef>
          </c:cat>
          <c:val>
            <c:numRef>
              <c:f>'Pivot Table(s) - 1'!$S$62:$S$67</c:f>
              <c:numCache>
                <c:formatCode>0.00%</c:formatCode>
                <c:ptCount val="5"/>
                <c:pt idx="0">
                  <c:v>0.31648299311544215</c:v>
                </c:pt>
                <c:pt idx="1">
                  <c:v>0.22909642949693623</c:v>
                </c:pt>
                <c:pt idx="2">
                  <c:v>0.18963375204959984</c:v>
                </c:pt>
                <c:pt idx="3">
                  <c:v>0.16181891601947107</c:v>
                </c:pt>
                <c:pt idx="4">
                  <c:v>0.10296790931855075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BB5-3D4D-A2F5-5E6CBAEB2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53669792"/>
        <c:axId val="353576112"/>
      </c:lineChart>
      <c:catAx>
        <c:axId val="115793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935744"/>
        <c:crosses val="autoZero"/>
        <c:auto val="1"/>
        <c:lblAlgn val="ctr"/>
        <c:lblOffset val="100"/>
        <c:noMultiLvlLbl val="0"/>
      </c:catAx>
      <c:valAx>
        <c:axId val="1157935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Suma</a:t>
                </a:r>
                <a:r>
                  <a:rPr lang="en-US" baseline="0"/>
                  <a:t> de Impresiones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934032"/>
        <c:crosses val="autoZero"/>
        <c:crossBetween val="between"/>
      </c:valAx>
      <c:valAx>
        <c:axId val="353576112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669792"/>
        <c:crosses val="max"/>
        <c:crossBetween val="between"/>
      </c:valAx>
      <c:catAx>
        <c:axId val="3536697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535761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Como</a:t>
            </a:r>
            <a:r>
              <a:rPr lang="en-US" baseline="0"/>
              <a:t> se compara nuestro ROAS con la industria?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ROAS Promedio 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'Graficos Extras'!$B$11:$B$15</c:f>
              <c:strCache>
                <c:ptCount val="5"/>
                <c:pt idx="0">
                  <c:v>Correo Electrónico</c:v>
                </c:pt>
                <c:pt idx="1">
                  <c:v>Meta Ads</c:v>
                </c:pt>
                <c:pt idx="2">
                  <c:v>SEM</c:v>
                </c:pt>
                <c:pt idx="3">
                  <c:v>Google Display</c:v>
                </c:pt>
                <c:pt idx="4">
                  <c:v>TikTok Ads</c:v>
                </c:pt>
              </c:strCache>
            </c:strRef>
          </c:cat>
          <c:val>
            <c:numRef>
              <c:f>'Graficos Extras'!$C$11:$C$15</c:f>
              <c:numCache>
                <c:formatCode>General</c:formatCode>
                <c:ptCount val="5"/>
                <c:pt idx="0">
                  <c:v>21.19591376735103</c:v>
                </c:pt>
                <c:pt idx="1">
                  <c:v>3.8496647942600211</c:v>
                </c:pt>
                <c:pt idx="2">
                  <c:v>9.1839844714192491</c:v>
                </c:pt>
                <c:pt idx="3">
                  <c:v>1.0763913166903276</c:v>
                </c:pt>
                <c:pt idx="4">
                  <c:v>1.6942986125737765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E-0348-907B-0D85D096C015}"/>
            </c:ext>
          </c:extLst>
        </c:ser>
        <c:ser>
          <c:idx val="1"/>
          <c:order val="1"/>
          <c:tx>
            <c:strRef>
              <c:f>'Graficos Extras'!$D$10</c:f>
              <c:strCache>
                <c:ptCount val="1"/>
                <c:pt idx="0">
                  <c:v>ROAS Promedio Industria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'Graficos Extras'!$B$11:$B$15</c:f>
              <c:strCache>
                <c:ptCount val="5"/>
                <c:pt idx="0">
                  <c:v>Correo Electrónico</c:v>
                </c:pt>
                <c:pt idx="1">
                  <c:v>Meta Ads</c:v>
                </c:pt>
                <c:pt idx="2">
                  <c:v>SEM</c:v>
                </c:pt>
                <c:pt idx="3">
                  <c:v>Google Display</c:v>
                </c:pt>
                <c:pt idx="4">
                  <c:v>TikTok Ads</c:v>
                </c:pt>
              </c:strCache>
            </c:strRef>
          </c:cat>
          <c:val>
            <c:numRef>
              <c:f>'Graficos Extras'!$D$11:$D$15</c:f>
              <c:numCache>
                <c:formatCode>General</c:formatCode>
                <c:ptCount val="5"/>
                <c:pt idx="0">
                  <c:v>36</c:v>
                </c:pt>
                <c:pt idx="1">
                  <c:v>2.5</c:v>
                </c:pt>
                <c:pt idx="2">
                  <c:v>2</c:v>
                </c:pt>
                <c:pt idx="3">
                  <c:v>1.25</c:v>
                </c:pt>
                <c:pt idx="4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7E-0348-907B-0D85D096C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412528"/>
        <c:axId val="543430560"/>
      </c:barChart>
      <c:catAx>
        <c:axId val="54341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3430560"/>
        <c:crosses val="autoZero"/>
        <c:auto val="1"/>
        <c:lblAlgn val="ctr"/>
        <c:lblOffset val="100"/>
        <c:noMultiLvlLbl val="0"/>
      </c:catAx>
      <c:valAx>
        <c:axId val="54343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341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Impacto del Nuevo Presupuesto en Ganancia por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'Graficos Extras'!$K$1</c:f>
              <c:strCache>
                <c:ptCount val="1"/>
                <c:pt idx="0">
                  <c:v>Presupuesto Antiguo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'Graficos Extras'!$J$2:$J$6</c:f>
              <c:strCache>
                <c:ptCount val="5"/>
                <c:pt idx="0">
                  <c:v>Google Display</c:v>
                </c:pt>
                <c:pt idx="1">
                  <c:v>TikTok Ads</c:v>
                </c:pt>
                <c:pt idx="2">
                  <c:v>Meta Ads</c:v>
                </c:pt>
                <c:pt idx="3">
                  <c:v>SEM</c:v>
                </c:pt>
                <c:pt idx="4">
                  <c:v>Correo Electrónico</c:v>
                </c:pt>
              </c:strCache>
            </c:strRef>
          </c:cat>
          <c:val>
            <c:numRef>
              <c:f>'Graficos Extras'!$K$2:$K$6</c:f>
              <c:numCache>
                <c:formatCode>"$"#,##0.00</c:formatCode>
                <c:ptCount val="5"/>
                <c:pt idx="0">
                  <c:v>127401.31999999999</c:v>
                </c:pt>
                <c:pt idx="1">
                  <c:v>261739.18000000008</c:v>
                </c:pt>
                <c:pt idx="2">
                  <c:v>226759.41000000003</c:v>
                </c:pt>
                <c:pt idx="3">
                  <c:v>261447.83000000002</c:v>
                </c:pt>
                <c:pt idx="4">
                  <c:v>56827.159999999989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CF-B449-AF3A-DD251533A079}"/>
            </c:ext>
          </c:extLst>
        </c:ser>
        <c:ser>
          <c:idx val="1"/>
          <c:order val="1"/>
          <c:tx>
            <c:strRef>
              <c:f>'Graficos Extras'!$L$1</c:f>
              <c:strCache>
                <c:ptCount val="1"/>
                <c:pt idx="0">
                  <c:v>Presupuesto Nuevo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'Graficos Extras'!$J$2:$J$6</c:f>
              <c:strCache>
                <c:ptCount val="5"/>
                <c:pt idx="0">
                  <c:v>Google Display</c:v>
                </c:pt>
                <c:pt idx="1">
                  <c:v>TikTok Ads</c:v>
                </c:pt>
                <c:pt idx="2">
                  <c:v>Meta Ads</c:v>
                </c:pt>
                <c:pt idx="3">
                  <c:v>SEM</c:v>
                </c:pt>
                <c:pt idx="4">
                  <c:v>Correo Electrónico</c:v>
                </c:pt>
              </c:strCache>
            </c:strRef>
          </c:cat>
          <c:val>
            <c:numRef>
              <c:f>'Graficos Extras'!$L$2:$L$6</c:f>
              <c:numCache>
                <c:formatCode>"$"#,##0.00</c:formatCode>
                <c:ptCount val="5"/>
                <c:pt idx="0">
                  <c:v>71386.546499999968</c:v>
                </c:pt>
                <c:pt idx="1">
                  <c:v>71386.546499999968</c:v>
                </c:pt>
                <c:pt idx="2">
                  <c:v>142773.09299999994</c:v>
                </c:pt>
                <c:pt idx="3">
                  <c:v>166568.60849999991</c:v>
                </c:pt>
                <c:pt idx="4">
                  <c:v>499705.82549999974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CF-B449-AF3A-DD251533A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04746495"/>
        <c:axId val="1104748207"/>
      </c:barChart>
      <c:barChart>
        <c:barDir val="col"/>
        <c:grouping val="clustered"/>
        <c:varyColors val="0"/>
        <c:ser>
          <c:idx val="4"/>
          <c:order val="4"/>
          <c:tx>
            <c:v>Ganancia Total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val>
            <c:numRef>
              <c:f>'Graficos Extras'!$O$2:$O$6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3CF-B449-AF3A-DD251533A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04430415"/>
        <c:axId val="1104427455"/>
      </c:barChart>
      <c:lineChart>
        <c:grouping val="standard"/>
        <c:varyColors val="0"/>
        <c:ser>
          <c:idx val="2"/>
          <c:order val="2"/>
          <c:tx>
            <c:strRef>
              <c:f>'Graficos Extras'!$M$1</c:f>
              <c:strCache>
                <c:ptCount val="1"/>
                <c:pt idx="0">
                  <c:v>Ganancia Antigua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'Graficos Extras'!$J$2:$J$6</c:f>
              <c:strCache>
                <c:ptCount val="5"/>
                <c:pt idx="0">
                  <c:v>Google Display</c:v>
                </c:pt>
                <c:pt idx="1">
                  <c:v>TikTok Ads</c:v>
                </c:pt>
                <c:pt idx="2">
                  <c:v>Meta Ads</c:v>
                </c:pt>
                <c:pt idx="3">
                  <c:v>SEM</c:v>
                </c:pt>
                <c:pt idx="4">
                  <c:v>Correo Electrónico</c:v>
                </c:pt>
              </c:strCache>
            </c:strRef>
          </c:cat>
          <c:val>
            <c:numRef>
              <c:f>'Graficos Extras'!$M$2:$M$6</c:f>
              <c:numCache>
                <c:formatCode>"$"#,##0.00</c:formatCode>
                <c:ptCount val="5"/>
                <c:pt idx="0">
                  <c:v>9801.4100000000035</c:v>
                </c:pt>
                <c:pt idx="1">
                  <c:v>201918.21999999997</c:v>
                </c:pt>
                <c:pt idx="2">
                  <c:v>680809.2</c:v>
                </c:pt>
                <c:pt idx="3">
                  <c:v>2203093.9499999993</c:v>
                </c:pt>
                <c:pt idx="4">
                  <c:v>972922.94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3CF-B449-AF3A-DD251533A079}"/>
            </c:ext>
          </c:extLst>
        </c:ser>
        <c:ser>
          <c:idx val="3"/>
          <c:order val="3"/>
          <c:tx>
            <c:strRef>
              <c:f>'Graficos Extras'!$N$1</c:f>
              <c:strCache>
                <c:ptCount val="1"/>
                <c:pt idx="0">
                  <c:v>Ganancia Nueva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'Graficos Extras'!$J$2:$J$6</c:f>
              <c:strCache>
                <c:ptCount val="5"/>
                <c:pt idx="0">
                  <c:v>Google Display</c:v>
                </c:pt>
                <c:pt idx="1">
                  <c:v>TikTok Ads</c:v>
                </c:pt>
                <c:pt idx="2">
                  <c:v>Meta Ads</c:v>
                </c:pt>
                <c:pt idx="3">
                  <c:v>SEM</c:v>
                </c:pt>
                <c:pt idx="4">
                  <c:v>Correo Electrónico</c:v>
                </c:pt>
              </c:strCache>
            </c:strRef>
          </c:cat>
          <c:val>
            <c:numRef>
              <c:f>'Graficos Extras'!$N$2:$N$6</c:f>
              <c:numCache>
                <c:formatCode>"$"#,##0.00</c:formatCode>
                <c:ptCount val="5"/>
                <c:pt idx="0">
                  <c:v>5492.0059755312186</c:v>
                </c:pt>
                <c:pt idx="1">
                  <c:v>55071.02299788368</c:v>
                </c:pt>
                <c:pt idx="2">
                  <c:v>428653.59028256219</c:v>
                </c:pt>
                <c:pt idx="3">
                  <c:v>1403592.8072008409</c:v>
                </c:pt>
                <c:pt idx="4">
                  <c:v>8555332.7120445017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3CF-B449-AF3A-DD251533A0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430415"/>
        <c:axId val="1104427455"/>
      </c:lineChart>
      <c:catAx>
        <c:axId val="110474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748207"/>
        <c:crosses val="autoZero"/>
        <c:auto val="1"/>
        <c:lblAlgn val="ctr"/>
        <c:lblOffset val="100"/>
        <c:noMultiLvlLbl val="0"/>
      </c:catAx>
      <c:valAx>
        <c:axId val="1104748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Presupuesto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746495"/>
        <c:crosses val="autoZero"/>
        <c:crossBetween val="between"/>
      </c:valAx>
      <c:valAx>
        <c:axId val="110442745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Ganancia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$&quot;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4430415"/>
        <c:crosses val="max"/>
        <c:crossBetween val="between"/>
      </c:valAx>
      <c:catAx>
        <c:axId val="11044304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44274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74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AC1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1323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del Desempeño de Canales de Marketing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canales de bajo rendimiento y reasignación de presupuesto hacia el mayor retorno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8046720" cy="0"/>
          </a:xfrm>
          <a:prstGeom prst="line">
            <a:avLst/>
          </a:prstGeom>
          <a:noFill/>
          <a:ln w="9525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</a:t>
            </a:r>
            <a:r>
              <a:rPr lang="en-US" sz="1100" dirty="0" err="1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Marquez Diaz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23760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[09/07/2026]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502920"/>
          </a:xfrm>
          <a:prstGeom prst="ellipse">
            <a:avLst/>
          </a:prstGeom>
          <a:solidFill>
            <a:srgbClr val="F4FA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77266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5669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4FAF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5800" y="15361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9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810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Nuestra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inversión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marketing ha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crecido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sostenidamente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año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pero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el ROI se ha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desvinculado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inversión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con la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solución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correcta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podemos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generar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hasta S/6.3M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adicionales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0194EA-D300-85C6-842C-8AE207962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004" y="2240280"/>
            <a:ext cx="5369992" cy="2838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b="1" dirty="0">
                <a:solidFill>
                  <a:srgbClr val="7A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502920"/>
          </a:xfrm>
          <a:prstGeom prst="ellipse">
            <a:avLst/>
          </a:prstGeom>
          <a:solidFill>
            <a:srgbClr val="F4FA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77266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5669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— Atribución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14400" y="4023360"/>
            <a:ext cx="7315200" cy="822960"/>
          </a:xfrm>
          <a:prstGeom prst="roundRect">
            <a:avLst>
              <a:gd name="adj" fmla="val 8889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clave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TikTok Ads, SEM y GDAs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generan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conjunto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cerca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del 75% de las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impresiones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totales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un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patrón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consistente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rol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como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canales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descubrimiento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cuyo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desempeño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no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puede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evaluarse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únicamente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 ROI.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7DD950D-05B1-3845-A2BB-AE25AFF561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353709"/>
              </p:ext>
            </p:extLst>
          </p:nvPr>
        </p:nvGraphicFramePr>
        <p:xfrm>
          <a:off x="1801008" y="1121414"/>
          <a:ext cx="5555443" cy="2901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b="1" dirty="0">
                <a:solidFill>
                  <a:srgbClr val="7A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502920"/>
          </a:xfrm>
          <a:prstGeom prst="ellipse">
            <a:avLst/>
          </a:prstGeom>
          <a:solidFill>
            <a:srgbClr val="F4FA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77266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5669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— Etapa del Embudo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14400" y="4023360"/>
            <a:ext cx="7315200" cy="822960"/>
          </a:xfrm>
          <a:prstGeom prst="roundRect">
            <a:avLst>
              <a:gd name="adj" fmla="val 8889"/>
            </a:avLst>
          </a:prstGeom>
          <a:solidFill>
            <a:srgbClr val="F4FAF0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clave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 ROAS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canales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reconocimiento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ubica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límite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inferior del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estándar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óptimo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mientras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que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correo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electrónico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—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nuestro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canal de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mayores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ingresos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—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presenta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un ROAS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debajo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del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estándar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la 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industria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48E2465-7D4C-8842-B12F-F0B6A268C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723517"/>
              </p:ext>
            </p:extLst>
          </p:nvPr>
        </p:nvGraphicFramePr>
        <p:xfrm>
          <a:off x="2300953" y="1124712"/>
          <a:ext cx="4457357" cy="2898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10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›   </a:t>
            </a:r>
            <a:r>
              <a:rPr lang="en-US" sz="1100" b="1" dirty="0">
                <a:solidFill>
                  <a:srgbClr val="7A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502920"/>
          </a:xfrm>
          <a:prstGeom prst="ellipse">
            <a:avLst/>
          </a:prstGeom>
          <a:solidFill>
            <a:srgbClr val="F4FA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77266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5669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079592"/>
              </p:ext>
            </p:extLst>
          </p:nvPr>
        </p:nvGraphicFramePr>
        <p:xfrm>
          <a:off x="5960789" y="973836"/>
          <a:ext cx="2811952" cy="3383280"/>
        </p:xfrm>
        <a:graphic>
          <a:graphicData uri="http://schemas.openxmlformats.org/drawingml/2006/table">
            <a:tbl>
              <a:tblPr/>
              <a:tblGrid>
                <a:gridCol w="110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E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Correo </a:t>
                      </a:r>
                      <a:r>
                        <a:rPr lang="en-US" sz="1050" b="0" i="1" u="none" strike="noStrike" dirty="0" err="1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Electronico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5.97%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52.5%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SEM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27.47%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17.5% 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Meta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23.82% 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15%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GDA 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—13.39%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7.5%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TikTok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27.5%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0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— 7.5%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8982E8D-2086-49EC-CC0A-AA805631F9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201501"/>
              </p:ext>
            </p:extLst>
          </p:nvPr>
        </p:nvGraphicFramePr>
        <p:xfrm>
          <a:off x="240633" y="1197864"/>
          <a:ext cx="5720156" cy="3689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4C20868-D61B-C9BB-BE51-2678A9511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060631"/>
              </p:ext>
            </p:extLst>
          </p:nvPr>
        </p:nvGraphicFramePr>
        <p:xfrm>
          <a:off x="5960789" y="4360164"/>
          <a:ext cx="2811952" cy="563880"/>
        </p:xfrm>
        <a:graphic>
          <a:graphicData uri="http://schemas.openxmlformats.org/drawingml/2006/table">
            <a:tbl>
              <a:tblPr/>
              <a:tblGrid>
                <a:gridCol w="1100030">
                  <a:extLst>
                    <a:ext uri="{9D8B030D-6E8A-4147-A177-3AD203B41FA5}">
                      <a16:colId xmlns:a16="http://schemas.microsoft.com/office/drawing/2014/main" val="1708215968"/>
                    </a:ext>
                  </a:extLst>
                </a:gridCol>
                <a:gridCol w="882524">
                  <a:extLst>
                    <a:ext uri="{9D8B030D-6E8A-4147-A177-3AD203B41FA5}">
                      <a16:colId xmlns:a16="http://schemas.microsoft.com/office/drawing/2014/main" val="2425772341"/>
                    </a:ext>
                  </a:extLst>
                </a:gridCol>
                <a:gridCol w="829398">
                  <a:extLst>
                    <a:ext uri="{9D8B030D-6E8A-4147-A177-3AD203B41FA5}">
                      <a16:colId xmlns:a16="http://schemas.microsoft.com/office/drawing/2014/main" val="3724349200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1" i="1" u="none" strike="noStrike" dirty="0" err="1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Ganancia</a:t>
                      </a:r>
                      <a:r>
                        <a:rPr lang="en-US" sz="1050" b="1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US" b="1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1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S/4.15M</a:t>
                      </a:r>
                      <a:endParaRPr lang="en-US" b="1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050" b="1" i="1" u="none" strike="noStrike" dirty="0">
                          <a:solidFill>
                            <a:srgbClr val="8A8A8A"/>
                          </a:solidFill>
                          <a:effectLst/>
                          <a:latin typeface="Calibri" panose="020F0502020204030204" pitchFamily="34" charset="0"/>
                        </a:rPr>
                        <a:t>S/10.45M</a:t>
                      </a:r>
                      <a:endParaRPr lang="en-US" b="1" dirty="0">
                        <a:effectLst/>
                      </a:endParaRPr>
                    </a:p>
                  </a:txBody>
                  <a:tcPr marL="95250" marR="95250" marT="47625" marB="47625" anchor="ctr">
                    <a:lnL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807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271</Words>
  <Application>Microsoft Macintosh PowerPoint</Application>
  <PresentationFormat>On-screen Show (16:9)</PresentationFormat>
  <Paragraphs>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del Desempeño de Canales de Marketing</dc:title>
  <dc:subject>PptxGenJS Presentation</dc:subject>
  <dc:creator>Adrian</dc:creator>
  <cp:lastModifiedBy>Diaz, Adrian</cp:lastModifiedBy>
  <cp:revision>5</cp:revision>
  <dcterms:created xsi:type="dcterms:W3CDTF">2026-07-09T16:01:39Z</dcterms:created>
  <dcterms:modified xsi:type="dcterms:W3CDTF">2026-07-10T16:01:47Z</dcterms:modified>
</cp:coreProperties>
</file>